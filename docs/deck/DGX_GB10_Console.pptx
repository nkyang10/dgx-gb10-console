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5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48840"/>
            <a:ext cx="1036289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6000" b="1">
                <a:solidFill>
                  <a:srgbClr val="FFFFFF"/>
                </a:solidFill>
                <a:latin typeface="Noto Serif TC"/>
                <a:ea typeface="Noto Serif TC"/>
              </a:rPr>
              <a:t>DGX GB10 Console</a:t>
            </a:r>
          </a:p>
          <a:p>
            <a:pPr algn="l">
              <a:spcBef>
                <a:spcPts val="0"/>
              </a:spcBef>
              <a:spcAft>
                <a:spcPts val="2800"/>
              </a:spcAft>
            </a:pPr>
            <a:r>
              <a:rPr sz="2200" b="0">
                <a:solidFill>
                  <a:srgbClr val="D9E4DD"/>
                </a:solidFill>
                <a:latin typeface="Noto Sans TC"/>
                <a:ea typeface="Noto Sans TC"/>
              </a:rPr>
              <a:t>DGX Spark 集群 即時狀態 × 效能 × 健康監控平台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C7D4CC"/>
                </a:solidFill>
                <a:latin typeface="Noto Sans TC"/>
                <a:ea typeface="Noto Sans TC"/>
              </a:rPr>
              <a:t>一部 HTTP API，實時睇晒你部 DGX 做緊咩 — 硬體、軟體、vLLM 推理效能、成本、告警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06440"/>
            <a:ext cx="103628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A9B9B0"/>
                </a:solidFill>
                <a:latin typeface="Noto Sans TC"/>
                <a:ea typeface="Noto Sans TC"/>
              </a:rPr>
              <a:t>適用於 2 至 N 部 DGX Spark（GB10 Grace Blackwell）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46E"/>
                </a:solidFill>
                <a:latin typeface="Noto Sans TC"/>
                <a:ea typeface="Noto Sans TC"/>
              </a:rPr>
              <a:t>DGX GB10 Console  ·  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0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000" b="1">
                <a:solidFill>
                  <a:srgbClr val="3E5C4B"/>
                </a:solidFill>
                <a:latin typeface="Noto Serif TC"/>
                <a:ea typeface="Noto Serif TC"/>
              </a:rPr>
              <a:t>客戶痛點：你很哩緊部 DGX，但「佢喺度做緊乜？」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6B746E"/>
                </a:solidFill>
                <a:latin typeface="Noto Sans TC"/>
                <a:ea typeface="Noto Sans TC"/>
              </a:rPr>
              <a:t>無可視化 → 過熱降頻、OOM、排隊爆煲、磁碟滿、成本失控，全部唔知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C05F3C"/>
                </a:solidFill>
                <a:latin typeface="Noto Sans TC"/>
                <a:ea typeface="Noto Sans TC"/>
              </a:rPr>
              <a:t>— </a:t>
            </a:r>
            <a:r>
              <a:rPr sz="1500" b="0">
                <a:solidFill>
                  <a:srgbClr val="2E3A34"/>
                </a:solidFill>
                <a:latin typeface="Noto Sans TC"/>
                <a:ea typeface="Noto Sans TC"/>
              </a:rPr>
              <a:t>只知道部機「著咗」，但唔知 GPU 係咪過熱緊→降頻，效能偷偷流失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C05F3C"/>
                </a:solidFill>
                <a:latin typeface="Noto Sans TC"/>
                <a:ea typeface="Noto Sans TC"/>
              </a:rPr>
              <a:t>— </a:t>
            </a:r>
            <a:r>
              <a:rPr sz="1500" b="0">
                <a:solidFill>
                  <a:srgbClr val="2E3A34"/>
                </a:solidFill>
                <a:latin typeface="Noto Sans TC"/>
                <a:ea typeface="Noto Sans TC"/>
              </a:rPr>
              <a:t>vLLM 排緊幾多 request？TTFT 有冇爆炸？邊個 model 最夾樽頸？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C05F3C"/>
                </a:solidFill>
                <a:latin typeface="Noto Sans TC"/>
                <a:ea typeface="Noto Sans TC"/>
              </a:rPr>
              <a:t>— </a:t>
            </a:r>
            <a:r>
              <a:rPr sz="1500" b="0">
                <a:solidFill>
                  <a:srgbClr val="2E3A34"/>
                </a:solidFill>
                <a:latin typeface="Noto Sans TC"/>
                <a:ea typeface="Noto Sans TC"/>
              </a:rPr>
              <a:t>磁碟幾時滿？NVMe 幾時壞？能耗同 Token 成本每月幾多？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C05F3C"/>
                </a:solidFill>
                <a:latin typeface="Noto Sans TC"/>
                <a:ea typeface="Noto Sans TC"/>
              </a:rPr>
              <a:t>— </a:t>
            </a:r>
            <a:r>
              <a:rPr sz="1500" b="0">
                <a:solidFill>
                  <a:srgbClr val="2E3A34"/>
                </a:solidFill>
                <a:latin typeface="Noto Sans TC"/>
                <a:ea typeface="Noto Sans TC"/>
              </a:rPr>
              <a:t>要逐部機 SSH 去睇 nvidia-smi，N 部機睇到頭都大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C05F3C"/>
                </a:solidFill>
                <a:latin typeface="Noto Sans TC"/>
                <a:ea typeface="Noto Sans TC"/>
              </a:rPr>
              <a:t>— </a:t>
            </a:r>
            <a:r>
              <a:rPr sz="1500" b="0">
                <a:solidFill>
                  <a:srgbClr val="2E3A34"/>
                </a:solidFill>
                <a:latin typeface="Noto Sans TC"/>
                <a:ea typeface="Noto Sans TC"/>
              </a:rPr>
              <a:t>出事先發現，SLA／收入無形損失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46E"/>
                </a:solidFill>
                <a:latin typeface="Noto Sans TC"/>
                <a:ea typeface="Noto Sans TC"/>
              </a:rPr>
              <a:t>DGX GB10 Console  ·  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3E5C4B"/>
                </a:solidFill>
                <a:latin typeface="Noto Serif TC"/>
                <a:ea typeface="Noto Serif TC"/>
              </a:rPr>
              <a:t>產品：一部 HTTP API 睇晒成個集群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B746E"/>
                </a:solidFill>
                <a:latin typeface="Noto Sans TC"/>
                <a:ea typeface="Noto Sans TC"/>
              </a:rPr>
              <a:t>N 節點星型架構 · 每部 DGX 一個 exporter · 一部 aggregator 合併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91640"/>
            <a:ext cx="2578608" cy="2743200"/>
          </a:xfrm>
          <a:prstGeom prst="rect">
            <a:avLst/>
          </a:prstGeom>
          <a:solidFill>
            <a:srgbClr val="F0ECE3"/>
          </a:solidFill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691640"/>
            <a:ext cx="2578608" cy="91440"/>
          </a:xfrm>
          <a:prstGeom prst="rect">
            <a:avLst/>
          </a:prstGeom>
          <a:solidFill>
            <a:srgbClr val="C0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057400"/>
            <a:ext cx="2029968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3E5C4B"/>
                </a:solidFill>
                <a:latin typeface="Noto Serif TC"/>
                <a:ea typeface="Noto Serif TC"/>
              </a:rPr>
              <a:t>硬體健康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E3A34"/>
                </a:solidFill>
                <a:latin typeface="Noto Sans TC"/>
                <a:ea typeface="Noto Sans TC"/>
              </a:rPr>
              <a:t>GPU / CPU / 記憶體(UMA) / 溫度 / 功率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E3A34"/>
                </a:solidFill>
                <a:latin typeface="Noto Sans TC"/>
                <a:ea typeface="Noto Sans TC"/>
              </a:rPr>
              <a:t>過熱降頻矩陣·節流偵測 · NVMe 壽命</a:t>
            </a:r>
          </a:p>
        </p:txBody>
      </p:sp>
      <p:sp>
        <p:nvSpPr>
          <p:cNvPr id="7" name="Rectangle 6"/>
          <p:cNvSpPr/>
          <p:nvPr/>
        </p:nvSpPr>
        <p:spPr>
          <a:xfrm>
            <a:off x="3712464" y="1691640"/>
            <a:ext cx="2578608" cy="2743200"/>
          </a:xfrm>
          <a:prstGeom prst="rect">
            <a:avLst/>
          </a:prstGeom>
          <a:solidFill>
            <a:srgbClr val="F0ECE3"/>
          </a:solidFill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712464" y="1691640"/>
            <a:ext cx="2578608" cy="91440"/>
          </a:xfrm>
          <a:prstGeom prst="rect">
            <a:avLst/>
          </a:prstGeom>
          <a:solidFill>
            <a:srgbClr val="3E5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86784" y="2057400"/>
            <a:ext cx="2029968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3E5C4B"/>
                </a:solidFill>
                <a:latin typeface="Noto Serif TC"/>
                <a:ea typeface="Noto Serif TC"/>
              </a:rPr>
              <a:t>vLLM 效能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E3A34"/>
                </a:solidFill>
                <a:latin typeface="Noto Sans TC"/>
                <a:ea typeface="Noto Sans TC"/>
              </a:rPr>
              <a:t>tok/s · TTFT / ITL / e2e · queue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E3A34"/>
                </a:solidFill>
                <a:latin typeface="Noto Sans TC"/>
                <a:ea typeface="Noto Sans TC"/>
              </a:rPr>
              <a:t>KV cache · per-model · SLO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10528" y="1691640"/>
            <a:ext cx="2578608" cy="2743200"/>
          </a:xfrm>
          <a:prstGeom prst="rect">
            <a:avLst/>
          </a:prstGeom>
          <a:solidFill>
            <a:srgbClr val="F0ECE3"/>
          </a:solidFill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10528" y="1691640"/>
            <a:ext cx="2578608" cy="91440"/>
          </a:xfrm>
          <a:prstGeom prst="rect">
            <a:avLst/>
          </a:prstGeom>
          <a:solidFill>
            <a:srgbClr val="C0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4848" y="2057400"/>
            <a:ext cx="2029968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3E5C4B"/>
                </a:solidFill>
                <a:latin typeface="Noto Serif TC"/>
                <a:ea typeface="Noto Serif TC"/>
              </a:rPr>
              <a:t>成本 / 容量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E3A34"/>
                </a:solidFill>
                <a:latin typeface="Noto Sans TC"/>
                <a:ea typeface="Noto Sans TC"/>
              </a:rPr>
              <a:t>能耗與電費 · Token 會計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E3A34"/>
                </a:solidFill>
                <a:latin typeface="Noto Sans TC"/>
                <a:ea typeface="Noto Sans TC"/>
              </a:rPr>
              <a:t>磁碟 TTF · KV / 記憶體 headroom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08592" y="1691640"/>
            <a:ext cx="2578608" cy="2743200"/>
          </a:xfrm>
          <a:prstGeom prst="rect">
            <a:avLst/>
          </a:prstGeom>
          <a:solidFill>
            <a:srgbClr val="F0ECE3"/>
          </a:solidFill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08592" y="1691640"/>
            <a:ext cx="2578608" cy="91440"/>
          </a:xfrm>
          <a:prstGeom prst="rect">
            <a:avLst/>
          </a:prstGeom>
          <a:solidFill>
            <a:srgbClr val="3E5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82912" y="2057400"/>
            <a:ext cx="2029968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3E5C4B"/>
                </a:solidFill>
                <a:latin typeface="Noto Serif TC"/>
                <a:ea typeface="Noto Serif TC"/>
              </a:rPr>
              <a:t>可靠 / 安全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E3A34"/>
                </a:solidFill>
                <a:latin typeface="Noto Sans TC"/>
                <a:ea typeface="Noto Sans TC"/>
              </a:rPr>
              <a:t>container OOM · kernel log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E3A34"/>
                </a:solidFill>
                <a:latin typeface="Noto Sans TC"/>
                <a:ea typeface="Noto Sans TC"/>
              </a:rPr>
              <a:t>security audit · RDMA 擁塞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46E"/>
                </a:solidFill>
                <a:latin typeface="Noto Sans TC"/>
                <a:ea typeface="Noto Sans TC"/>
              </a:rPr>
              <a:t>DGX GB10 Console  ·  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3E5C4B"/>
                </a:solidFill>
                <a:latin typeface="Noto Serif TC"/>
                <a:ea typeface="Noto Serif TC"/>
              </a:rPr>
              <a:t>由 2 部到 N 部，輕鬆擴展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B746E"/>
                </a:solidFill>
                <a:latin typeface="Noto Sans TC"/>
                <a:ea typeface="Noto Sans TC"/>
              </a:rPr>
              <a:t>星型架構 · 每部節點都係一等公民 · 加機只需 3 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4480560" y="1920240"/>
            <a:ext cx="3200400" cy="1097280"/>
          </a:xfrm>
          <a:prstGeom prst="rect">
            <a:avLst/>
          </a:prstGeom>
          <a:solidFill>
            <a:srgbClr val="3E5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80560" y="22402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Noto Serif TC"/>
                <a:ea typeface="Noto Serif TC"/>
              </a:rPr>
              <a:t>Aggregator (dgx-01)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40" y="4023360"/>
            <a:ext cx="2743200" cy="914400"/>
          </a:xfrm>
          <a:prstGeom prst="rect">
            <a:avLst/>
          </a:prstGeom>
          <a:solidFill>
            <a:srgbClr val="E9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0" y="4023360"/>
            <a:ext cx="2743200" cy="914400"/>
          </a:xfrm>
          <a:prstGeom prst="rect">
            <a:avLst/>
          </a:prstGeom>
          <a:solidFill>
            <a:srgbClr val="E9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4023360"/>
            <a:ext cx="2743200" cy="914400"/>
          </a:xfrm>
          <a:prstGeom prst="rect">
            <a:avLst/>
          </a:prstGeom>
          <a:solidFill>
            <a:srgbClr val="E9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42976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E5C4B"/>
                </a:solidFill>
                <a:latin typeface="Noto Serif TC"/>
                <a:ea typeface="Noto Serif TC"/>
              </a:rPr>
              <a:t>dgx-02 exporter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2976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E5C4B"/>
                </a:solidFill>
                <a:latin typeface="Noto Serif TC"/>
                <a:ea typeface="Noto Serif TC"/>
              </a:rPr>
              <a:t>dgx-03 exporter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42976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E5C4B"/>
                </a:solidFill>
                <a:latin typeface="Noto Serif TC"/>
                <a:ea typeface="Noto Serif TC"/>
              </a:rPr>
              <a:t>dgx-04 exporter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486400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B746E"/>
                </a:solidFill>
                <a:latin typeface="Noto Sans TC"/>
                <a:ea typeface="Noto Sans TC"/>
              </a:rPr>
              <a:t>add 一部：改 config 加一行 nodes[] + 喺新機跑 install.sh --node-id=&lt;id&gt; —— 自動出現喺 snapshot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46E"/>
                </a:solidFill>
                <a:latin typeface="Noto Sans TC"/>
                <a:ea typeface="Noto Sans TC"/>
              </a:rPr>
              <a:t>DGX GB10 Console  ·  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3E5C4B"/>
                </a:solidFill>
                <a:latin typeface="Noto Serif TC"/>
                <a:ea typeface="Noto Serif TC"/>
              </a:rPr>
              <a:t>硬體健康 · 過熱降頻一眼睇到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B746E"/>
                </a:solidFill>
                <a:latin typeface="Noto Sans TC"/>
                <a:ea typeface="Noto Sans TC"/>
              </a:rPr>
              <a:t>GB10 統一記憶體(UMA) 專屬做法 — 唔靠報 N/A 嘅 nvidia-smi VRAM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60350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C05F3C"/>
                </a:solidFill>
                <a:latin typeface="Noto Sans TC"/>
                <a:ea typeface="Noto Sans TC"/>
              </a:rPr>
              <a:t>— </a:t>
            </a:r>
            <a:r>
              <a:rPr sz="1500" b="0">
                <a:solidFill>
                  <a:srgbClr val="2E3A34"/>
                </a:solidFill>
                <a:latin typeface="Noto Sans TC"/>
                <a:ea typeface="Noto Sans TC"/>
              </a:rPr>
              <a:t>GPU：util / 溫度 / 功率 / 時脈 / throttle reason（熱 vs 功率 vs 卡死）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C05F3C"/>
                </a:solidFill>
                <a:latin typeface="Noto Sans TC"/>
                <a:ea typeface="Noto Sans TC"/>
              </a:rPr>
              <a:t>— </a:t>
            </a:r>
            <a:r>
              <a:rPr sz="1500" b="0">
                <a:solidFill>
                  <a:srgbClr val="2E3A34"/>
                </a:solidFill>
                <a:latin typeface="Noto Sans TC"/>
                <a:ea typeface="Noto Sans TC"/>
              </a:rPr>
              <a:t>熱降頻觀測矩陣：溫度 + SM 頻率比率 + throttle bit + 負載 夾埋判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C05F3C"/>
                </a:solidFill>
                <a:latin typeface="Noto Sans TC"/>
                <a:ea typeface="Noto Sans TC"/>
              </a:rPr>
              <a:t>— </a:t>
            </a:r>
            <a:r>
              <a:rPr sz="1500" b="0">
                <a:solidFill>
                  <a:srgbClr val="2E3A34"/>
                </a:solidFill>
                <a:latin typeface="Noto Sans TC"/>
                <a:ea typeface="Noto Sans TC"/>
              </a:rPr>
              <a:t>CPU / 記憶體(UMA) / 磁碟(NVMe SMART 壽命) / 網絡(Fabric RDMA)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C05F3C"/>
                </a:solidFill>
                <a:latin typeface="Noto Sans TC"/>
                <a:ea typeface="Noto Sans TC"/>
              </a:rPr>
              <a:t>— </a:t>
            </a:r>
            <a:r>
              <a:rPr sz="1500" b="0">
                <a:solidFill>
                  <a:srgbClr val="2E3A34"/>
                </a:solidFill>
                <a:latin typeface="Noto Sans TC"/>
                <a:ea typeface="Noto Sans TC"/>
              </a:rPr>
              <a:t>節流史 timeline：幾時降頻、持續幾耐 — 自動計入告警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C05F3C"/>
                </a:solidFill>
                <a:latin typeface="Noto Sans TC"/>
                <a:ea typeface="Noto Sans TC"/>
              </a:rPr>
              <a:t>— </a:t>
            </a:r>
            <a:r>
              <a:rPr sz="1500" b="0">
                <a:solidFill>
                  <a:srgbClr val="2E3A34"/>
                </a:solidFill>
                <a:latin typeface="Noto Sans TC"/>
                <a:ea typeface="Noto Sans TC"/>
              </a:rPr>
              <a:t>GB10 特有「卡死低時脈」bug 偵測（USB-C PD 供電）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645920"/>
            <a:ext cx="39319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E5C4B"/>
                </a:solidFill>
                <a:latin typeface="Noto Serif TC"/>
                <a:ea typeface="Noto Serif TC"/>
              </a:rPr>
              <a:t>熱降頻判讀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2E3A34"/>
                </a:solidFill>
                <a:latin typeface="Noto Sans TC"/>
                <a:ea typeface="Noto Sans TC"/>
              </a:rPr>
              <a:t>temp&gt;80 + clock 低 + thermal bit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05F3C"/>
                </a:solidFill>
                <a:latin typeface="Noto Sans TC"/>
                <a:ea typeface="Noto Sans TC"/>
              </a:rPr>
              <a:t>      →  過熱降頻 🔴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2E3A34"/>
                </a:solidFill>
                <a:latin typeface="Noto Sans TC"/>
                <a:ea typeface="Noto Sans TC"/>
              </a:rPr>
              <a:t>power_cap bit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05F3C"/>
                </a:solidFill>
                <a:latin typeface="Noto Sans TC"/>
                <a:ea typeface="Noto Sans TC"/>
              </a:rPr>
              <a:t>      →  功率上限 🟠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2E3A34"/>
                </a:solidFill>
                <a:latin typeface="Noto Sans TC"/>
                <a:ea typeface="Noto Sans TC"/>
              </a:rPr>
              <a:t>clock&lt;45% + 無 reason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05F3C"/>
                </a:solidFill>
                <a:latin typeface="Noto Sans TC"/>
                <a:ea typeface="Noto Sans TC"/>
              </a:rPr>
              <a:t>      →  卡死 bug 🔴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1691640"/>
            <a:ext cx="3931920" cy="2651760"/>
          </a:xfrm>
          <a:prstGeom prst="rect">
            <a:avLst/>
          </a:prstGeom>
          <a:solidFill>
            <a:srgbClr val="F0ECE3"/>
          </a:solidFill>
          <a:ln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46E"/>
                </a:solidFill>
                <a:latin typeface="Noto Sans TC"/>
                <a:ea typeface="Noto Sans TC"/>
              </a:rPr>
              <a:t>DGX GB10 Console  ·  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3E5C4B"/>
                </a:solidFill>
                <a:latin typeface="Noto Serif TC"/>
                <a:ea typeface="Noto Serif TC"/>
              </a:rPr>
              <a:t>vLLM 推理效能 — 個 API 真正主角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B746E"/>
                </a:solidFill>
                <a:latin typeface="Noto Sans TC"/>
                <a:ea typeface="Noto Sans TC"/>
              </a:rPr>
              <a:t>喺 Docker 入面跑嘅 vLLM，直接撈 /metrics · /health · /v1/models · /is_sleeping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60350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C05F3C"/>
                </a:solidFill>
                <a:latin typeface="Noto Sans TC"/>
                <a:ea typeface="Noto Sans TC"/>
              </a:rPr>
              <a:t>— </a:t>
            </a:r>
            <a:r>
              <a:rPr sz="1500" b="0">
                <a:solidFill>
                  <a:srgbClr val="2E3A34"/>
                </a:solidFill>
                <a:latin typeface="Noto Sans TC"/>
                <a:ea typeface="Noto Sans TC"/>
              </a:rPr>
              <a:t>吞吐：decode / prefill tok/s，RPS（完成 request 率）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C05F3C"/>
                </a:solidFill>
                <a:latin typeface="Noto Sans TC"/>
                <a:ea typeface="Noto Sans TC"/>
              </a:rPr>
              <a:t>— </a:t>
            </a:r>
            <a:r>
              <a:rPr sz="1500" b="0">
                <a:solidFill>
                  <a:srgbClr val="2E3A34"/>
                </a:solidFill>
                <a:latin typeface="Noto Sans TC"/>
                <a:ea typeface="Noto Sans TC"/>
              </a:rPr>
              <a:t>延遲：TTFT、ITL/TPOT、e2e — avg + P95（窗口度率，唔抄即時數）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C05F3C"/>
                </a:solidFill>
                <a:latin typeface="Noto Sans TC"/>
                <a:ea typeface="Noto Sans TC"/>
              </a:rPr>
              <a:t>— </a:t>
            </a:r>
            <a:r>
              <a:rPr sz="1500" b="0">
                <a:solidFill>
                  <a:srgbClr val="2E3A34"/>
                </a:solidFill>
                <a:latin typeface="Noto Sans TC"/>
                <a:ea typeface="Noto Sans TC"/>
              </a:rPr>
              <a:t>積壓：running / waiting 隊列，per-model backlog，queue time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C05F3C"/>
                </a:solidFill>
                <a:latin typeface="Noto Sans TC"/>
                <a:ea typeface="Noto Sans TC"/>
              </a:rPr>
              <a:t>— </a:t>
            </a:r>
            <a:r>
              <a:rPr sz="1500" b="0">
                <a:solidFill>
                  <a:srgbClr val="2E3A34"/>
                </a:solidFill>
                <a:latin typeface="Noto Sans TC"/>
                <a:ea typeface="Noto Sans TC"/>
              </a:rPr>
              <a:t>KV-cache 用率、prefix-cache hit rate、preemption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C05F3C"/>
                </a:solidFill>
                <a:latin typeface="Noto Sans TC"/>
                <a:ea typeface="Noto Sans TC"/>
              </a:rPr>
              <a:t>— </a:t>
            </a:r>
            <a:r>
              <a:rPr sz="1500" b="0">
                <a:solidFill>
                  <a:srgbClr val="2E3A34"/>
                </a:solidFill>
                <a:latin typeface="Noto Sans TC"/>
                <a:ea typeface="Noto Sans TC"/>
              </a:rPr>
              <a:t>per-model SLO goodput；engine sleep / idle / dead 狀態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645920"/>
            <a:ext cx="39319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</p:txBody>
      </p:sp>
      <p:sp>
        <p:nvSpPr>
          <p:cNvPr id="6" name="Rectangle 5"/>
          <p:cNvSpPr/>
          <p:nvPr/>
        </p:nvSpPr>
        <p:spPr>
          <a:xfrm>
            <a:off x="7315200" y="1691640"/>
            <a:ext cx="3931920" cy="3108960"/>
          </a:xfrm>
          <a:prstGeom prst="rect">
            <a:avLst/>
          </a:prstGeom>
          <a:solidFill>
            <a:srgbClr val="F0ECE3"/>
          </a:solidFill>
          <a:ln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1920240"/>
            <a:ext cx="32004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E5C4B"/>
                </a:solidFill>
                <a:latin typeface="Noto Serif TC"/>
                <a:ea typeface="Noto Serif TC"/>
              </a:rPr>
              <a:t>想知佢有冇排隊？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2E3A34"/>
                </a:solidFill>
                <a:latin typeface="Noto Sans TC"/>
                <a:ea typeface="Noto Sans TC"/>
              </a:rPr>
              <a:t>num_requests_waiting ↑  +  queue_time ↑  = 積壓緊、處理緊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05F3C"/>
                </a:solidFill>
                <a:latin typeface="Noto Sans TC"/>
                <a:ea typeface="Noto Sans TC"/>
              </a:rPr>
              <a:t>唔係掛咗 — 係 vLLM 自己排隊消化緊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46E"/>
                </a:solidFill>
                <a:latin typeface="Noto Sans TC"/>
                <a:ea typeface="Noto Sans TC"/>
              </a:rPr>
              <a:t>DGX GB10 Console  ·  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3E5C4B"/>
                </a:solidFill>
                <a:latin typeface="Noto Serif TC"/>
                <a:ea typeface="Noto Serif TC"/>
              </a:rPr>
              <a:t>成本透明 · 容量先知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B746E"/>
                </a:solidFill>
                <a:latin typeface="Noto Sans TC"/>
                <a:ea typeface="Noto Sans TC"/>
              </a:rPr>
              <a:t>唔使估 — 幾多電、幾多 Token、幾時滿，全部數字化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60350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C05F3C"/>
                </a:solidFill>
                <a:latin typeface="Noto Sans TC"/>
                <a:ea typeface="Noto Sans TC"/>
              </a:rPr>
              <a:t>— </a:t>
            </a:r>
            <a:r>
              <a:rPr sz="1500" b="0">
                <a:solidFill>
                  <a:srgbClr val="2E3A34"/>
                </a:solidFill>
                <a:latin typeface="Noto Sans TC"/>
                <a:ea typeface="Noto Sans TC"/>
              </a:rPr>
              <a:t>能耗：整機 wall power（spbm），kWh/日，電費（$/kWh）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C05F3C"/>
                </a:solidFill>
                <a:latin typeface="Noto Sans TC"/>
                <a:ea typeface="Noto Sans TC"/>
              </a:rPr>
              <a:t>— </a:t>
            </a:r>
            <a:r>
              <a:rPr sz="1500" b="0">
                <a:solidFill>
                  <a:srgbClr val="2E3A34"/>
                </a:solidFill>
                <a:latin typeface="Noto Sans TC"/>
                <a:ea typeface="Noto Sans TC"/>
              </a:rPr>
              <a:t>idle vs active 成本分帳：幾多電係白拎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C05F3C"/>
                </a:solidFill>
                <a:latin typeface="Noto Sans TC"/>
                <a:ea typeface="Noto Sans TC"/>
              </a:rPr>
              <a:t>— </a:t>
            </a:r>
            <a:r>
              <a:rPr sz="1500" b="0">
                <a:solidFill>
                  <a:srgbClr val="2E3A34"/>
                </a:solidFill>
                <a:latin typeface="Noto Sans TC"/>
                <a:ea typeface="Noto Sans TC"/>
              </a:rPr>
              <a:t>Token 會計：per-model 每日 tokens、$/1M tokens、cache 慳幾多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C05F3C"/>
                </a:solidFill>
                <a:latin typeface="Noto Sans TC"/>
                <a:ea typeface="Noto Sans TC"/>
              </a:rPr>
              <a:t>— </a:t>
            </a:r>
            <a:r>
              <a:rPr sz="1500" b="0">
                <a:solidFill>
                  <a:srgbClr val="2E3A34"/>
                </a:solidFill>
                <a:latin typeface="Noto Sans TC"/>
                <a:ea typeface="Noto Sans TC"/>
              </a:rPr>
              <a:t>預算告警：$ 突破 80% / 100% 即知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645920"/>
            <a:ext cx="39319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3E5C4B"/>
                </a:solidFill>
                <a:latin typeface="Noto Serif TC"/>
                <a:ea typeface="Noto Serif TC"/>
              </a:rPr>
              <a:t>容量預測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2103120"/>
            <a:ext cx="3931920" cy="2743200"/>
          </a:xfrm>
          <a:prstGeom prst="rect">
            <a:avLst/>
          </a:prstGeom>
          <a:solidFill>
            <a:srgbClr val="F0ECE3"/>
          </a:solidFill>
          <a:ln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2377440"/>
            <a:ext cx="32004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C05F3C"/>
                </a:solidFill>
                <a:latin typeface="Noto Sans TC"/>
                <a:ea typeface="Noto Sans TC"/>
              </a:rPr>
              <a:t>— </a:t>
            </a:r>
            <a:r>
              <a:rPr sz="1400" b="0">
                <a:solidFill>
                  <a:srgbClr val="2E3A34"/>
                </a:solidFill>
                <a:latin typeface="Noto Sans TC"/>
                <a:ea typeface="Noto Sans TC"/>
              </a:rPr>
              <a:t>disk TTF：幾時 full（4h / 6h 預警）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C05F3C"/>
                </a:solidFill>
                <a:latin typeface="Noto Sans TC"/>
                <a:ea typeface="Noto Sans TC"/>
              </a:rPr>
              <a:t>— </a:t>
            </a:r>
            <a:r>
              <a:rPr sz="1400" b="0">
                <a:solidFill>
                  <a:srgbClr val="2E3A34"/>
                </a:solidFill>
                <a:latin typeface="Noto Sans TC"/>
                <a:ea typeface="Noto Sans TC"/>
              </a:rPr>
              <a:t>KV / 記憶體 headroom 趨勢（UMA）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C05F3C"/>
                </a:solidFill>
                <a:latin typeface="Noto Sans TC"/>
                <a:ea typeface="Noto Sans TC"/>
              </a:rPr>
              <a:t>— </a:t>
            </a:r>
            <a:r>
              <a:rPr sz="1400" b="0">
                <a:solidFill>
                  <a:srgbClr val="2E3A34"/>
                </a:solidFill>
                <a:latin typeface="Noto Sans TC"/>
                <a:ea typeface="Noto Sans TC"/>
              </a:rPr>
              <a:t>「要唔要加 node」呢啲問題有數據答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46E"/>
                </a:solidFill>
                <a:latin typeface="Noto Sans TC"/>
                <a:ea typeface="Noto Sans TC"/>
              </a:rPr>
              <a:t>DGX GB10 Console  ·  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3E5C4B"/>
                </a:solidFill>
                <a:latin typeface="Noto Serif TC"/>
                <a:ea typeface="Noto Serif TC"/>
              </a:rPr>
              <a:t>可靠監察 · 安全守門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60350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C05F3C"/>
                </a:solidFill>
                <a:latin typeface="Noto Sans TC"/>
                <a:ea typeface="Noto Sans TC"/>
              </a:rPr>
              <a:t>— </a:t>
            </a:r>
            <a:r>
              <a:rPr sz="1500" b="0">
                <a:solidFill>
                  <a:srgbClr val="2E3A34"/>
                </a:solidFill>
                <a:latin typeface="Noto Sans TC"/>
                <a:ea typeface="Noto Sans TC"/>
              </a:rPr>
              <a:t>NVMe 壽命預測 + critical warning（呢個平台有已知 No-NVMe 故障）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C05F3C"/>
                </a:solidFill>
                <a:latin typeface="Noto Sans TC"/>
                <a:ea typeface="Noto Sans TC"/>
              </a:rPr>
              <a:t>— </a:t>
            </a:r>
            <a:r>
              <a:rPr sz="1500" b="0">
                <a:solidFill>
                  <a:srgbClr val="2E3A34"/>
                </a:solidFill>
                <a:latin typeface="Noto Sans TC"/>
                <a:ea typeface="Noto Sans TC"/>
              </a:rPr>
              <a:t>container OOM / restart loop → 即時警報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C05F3C"/>
                </a:solidFill>
                <a:latin typeface="Noto Sans TC"/>
                <a:ea typeface="Noto Sans TC"/>
              </a:rPr>
              <a:t>— </a:t>
            </a:r>
            <a:r>
              <a:rPr sz="1500" b="0">
                <a:solidFill>
                  <a:srgbClr val="2E3A34"/>
                </a:solidFill>
                <a:latin typeface="Noto Sans TC"/>
                <a:ea typeface="Noto Sans TC"/>
              </a:rPr>
              <a:t>kernel / OOM / NVRM 日誌 markers（24h 有事冇事一目了然）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C05F3C"/>
                </a:solidFill>
                <a:latin typeface="Noto Sans TC"/>
                <a:ea typeface="Noto Sans TC"/>
              </a:rPr>
              <a:t>— </a:t>
            </a:r>
            <a:r>
              <a:rPr sz="1500" b="0">
                <a:solidFill>
                  <a:srgbClr val="2E3A34"/>
                </a:solidFill>
                <a:latin typeface="Noto Sans TC"/>
                <a:ea typeface="Noto Sans TC"/>
              </a:rPr>
              <a:t>睇 log：`/logs` 攞 vLLM / kernel / 服務 / container 日誌（限行數 + auth）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C05F3C"/>
                </a:solidFill>
                <a:latin typeface="Noto Sans TC"/>
                <a:ea typeface="Noto Sans TC"/>
              </a:rPr>
              <a:t>— </a:t>
            </a:r>
            <a:r>
              <a:rPr sz="1500" b="0">
                <a:solidFill>
                  <a:srgbClr val="2E3A34"/>
                </a:solidFill>
                <a:latin typeface="Noto Sans TC"/>
                <a:ea typeface="Noto Sans TC"/>
              </a:rPr>
              <a:t>security audit：open ports、failed SSH、異常 process/container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600200"/>
            <a:ext cx="39319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</p:txBody>
      </p:sp>
      <p:sp>
        <p:nvSpPr>
          <p:cNvPr id="6" name="Rectangle 5"/>
          <p:cNvSpPr/>
          <p:nvPr/>
        </p:nvSpPr>
        <p:spPr>
          <a:xfrm>
            <a:off x="7315200" y="1645920"/>
            <a:ext cx="3931920" cy="3108960"/>
          </a:xfrm>
          <a:prstGeom prst="rect">
            <a:avLst/>
          </a:prstGeom>
          <a:solidFill>
            <a:srgbClr val="F0ECE3"/>
          </a:solidFill>
          <a:ln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1920240"/>
            <a:ext cx="320040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3E5C4B"/>
                </a:solidFill>
                <a:latin typeface="Noto Serif TC"/>
                <a:ea typeface="Noto Serif TC"/>
              </a:rPr>
              <a:t>安全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C05F3C"/>
                </a:solidFill>
                <a:latin typeface="Noto Sans TC"/>
                <a:ea typeface="Noto Sans TC"/>
              </a:rPr>
              <a:t>— </a:t>
            </a:r>
            <a:r>
              <a:rPr sz="1400" b="0">
                <a:solidFill>
                  <a:srgbClr val="2E3A34"/>
                </a:solidFill>
                <a:latin typeface="Noto Sans TC"/>
                <a:ea typeface="Noto Sans TC"/>
              </a:rPr>
              <a:t>API read-only 預設 + Token / API-Key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C05F3C"/>
                </a:solidFill>
                <a:latin typeface="Noto Sans TC"/>
                <a:ea typeface="Noto Sans TC"/>
              </a:rPr>
              <a:t>— </a:t>
            </a:r>
            <a:r>
              <a:rPr sz="1400" b="0">
                <a:solidFill>
                  <a:srgbClr val="2E3A34"/>
                </a:solidFill>
                <a:latin typeface="Noto Sans TC"/>
                <a:ea typeface="Noto Sans TC"/>
              </a:rPr>
              <a:t>站與站用 mTLS 或 WireGuard 加密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C05F3C"/>
                </a:solidFill>
                <a:latin typeface="Noto Sans TC"/>
                <a:ea typeface="Noto Sans TC"/>
              </a:rPr>
              <a:t>— </a:t>
            </a:r>
            <a:r>
              <a:rPr sz="1400" b="0">
                <a:solidFill>
                  <a:srgbClr val="2E3A34"/>
                </a:solidFill>
                <a:latin typeface="Noto Sans TC"/>
                <a:ea typeface="Noto Sans TC"/>
              </a:rPr>
              <a:t>vLLM 控制（可選）受控 + 唔 auto-wake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46E"/>
                </a:solidFill>
                <a:latin typeface="Noto Sans TC"/>
                <a:ea typeface="Noto Sans TC"/>
              </a:rPr>
              <a:t>DGX GB10 Console  ·  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3E5C4B"/>
                </a:solidFill>
                <a:latin typeface="Noto Serif TC"/>
                <a:ea typeface="Noto Serif TC"/>
              </a:rPr>
              <a:t>即時告警 — 未出事已經話你知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B746E"/>
                </a:solidFill>
                <a:latin typeface="Noto Sans TC"/>
                <a:ea typeface="Noto Sans TC"/>
              </a:rPr>
              <a:t>成個集群一套 alert 規則，Predomtheus / Grafana 或內建 /metrics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863840" cy="457200"/>
          </a:xfrm>
          <a:prstGeom prst="rect">
            <a:avLst/>
          </a:prstGeom>
          <a:solidFill>
            <a:srgbClr val="F0ECE3"/>
          </a:solidFill>
          <a:ln w="9525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700784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E3A34"/>
                </a:solidFill>
                <a:latin typeface="Noto Serif TC"/>
                <a:ea typeface="Noto Serif TC"/>
              </a:rPr>
              <a:t>NVMe wear / critical warning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1700784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B746E"/>
                </a:solidFill>
                <a:latin typeface="Noto Sans TC"/>
                <a:ea typeface="Noto Sans TC"/>
              </a:rPr>
              <a:t>將壞碟，先換先安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755648"/>
            <a:ext cx="1371600" cy="310896"/>
          </a:xfrm>
          <a:prstGeom prst="roundRect">
            <a:avLst/>
          </a:prstGeom>
          <a:solidFill>
            <a:srgbClr val="F26E4A"/>
          </a:solidFill>
          <a:ln w="12700">
            <a:solidFill>
              <a:srgbClr val="C05F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TC"/>
                <a:ea typeface="Noto Sans TC"/>
              </a:rPr>
              <a:t>CRIT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212848"/>
            <a:ext cx="7863840" cy="457200"/>
          </a:xfrm>
          <a:prstGeom prst="rect">
            <a:avLst/>
          </a:prstGeom>
          <a:solidFill>
            <a:srgbClr val="F0ECE3"/>
          </a:solidFill>
          <a:ln w="9525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267712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E3A34"/>
                </a:solidFill>
                <a:latin typeface="Noto Serif TC"/>
                <a:ea typeface="Noto Serif TC"/>
              </a:rPr>
              <a:t>GPU &gt; 96°C / SM clock 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2267712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B746E"/>
                </a:solidFill>
                <a:latin typeface="Noto Sans TC"/>
                <a:ea typeface="Noto Sans TC"/>
              </a:rPr>
              <a:t>過熱降頻 / USB-C PD 卡死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2322576"/>
            <a:ext cx="1371600" cy="310896"/>
          </a:xfrm>
          <a:prstGeom prst="roundRect">
            <a:avLst/>
          </a:prstGeom>
          <a:solidFill>
            <a:srgbClr val="F26E4A"/>
          </a:solidFill>
          <a:ln w="12700">
            <a:solidFill>
              <a:srgbClr val="C05F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TC"/>
                <a:ea typeface="Noto Sans TC"/>
              </a:rPr>
              <a:t>CRIT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779776"/>
            <a:ext cx="7863840" cy="457200"/>
          </a:xfrm>
          <a:prstGeom prst="rect">
            <a:avLst/>
          </a:prstGeom>
          <a:solidFill>
            <a:srgbClr val="F0ECE3"/>
          </a:solidFill>
          <a:ln w="9525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2834640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E3A34"/>
                </a:solidFill>
                <a:latin typeface="Noto Serif TC"/>
                <a:ea typeface="Noto Serif TC"/>
              </a:rPr>
              <a:t>Disk TTF &lt; 6h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283464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B746E"/>
                </a:solidFill>
                <a:latin typeface="Noto Sans TC"/>
                <a:ea typeface="Noto Sans TC"/>
              </a:rPr>
              <a:t>磁碟就快快滿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2889504"/>
            <a:ext cx="1371600" cy="310896"/>
          </a:xfrm>
          <a:prstGeom prst="roundRect">
            <a:avLst/>
          </a:prstGeom>
          <a:solidFill>
            <a:srgbClr val="3E5C4B"/>
          </a:solidFill>
          <a:ln w="12700">
            <a:solidFill>
              <a:srgbClr val="3E5C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000" b="1">
                <a:solidFill>
                  <a:srgbClr val="3E5C4B"/>
                </a:solidFill>
                <a:latin typeface="Noto Sans TC"/>
                <a:ea typeface="Noto Sans TC"/>
              </a:rPr>
              <a:t>WARN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346704"/>
            <a:ext cx="7863840" cy="457200"/>
          </a:xfrm>
          <a:prstGeom prst="rect">
            <a:avLst/>
          </a:prstGeom>
          <a:solidFill>
            <a:srgbClr val="F0ECE3"/>
          </a:solidFill>
          <a:ln w="9525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3401568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E3A34"/>
                </a:solidFill>
                <a:latin typeface="Noto Serif TC"/>
                <a:ea typeface="Noto Serif TC"/>
              </a:rPr>
              <a:t>KV cache 飽和 + 排隊 + preempt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3401568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B746E"/>
                </a:solidFill>
                <a:latin typeface="Noto Sans TC"/>
                <a:ea typeface="Noto Sans TC"/>
              </a:rPr>
              <a:t>模型唔夠位，要加 node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3456432"/>
            <a:ext cx="1371600" cy="310896"/>
          </a:xfrm>
          <a:prstGeom prst="roundRect">
            <a:avLst/>
          </a:prstGeom>
          <a:solidFill>
            <a:srgbClr val="3E5C4B"/>
          </a:solidFill>
          <a:ln w="12700">
            <a:solidFill>
              <a:srgbClr val="3E5C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000" b="1">
                <a:solidFill>
                  <a:srgbClr val="3E5C4B"/>
                </a:solidFill>
                <a:latin typeface="Noto Sans TC"/>
                <a:ea typeface="Noto Sans TC"/>
              </a:rPr>
              <a:t>WARN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3913632"/>
            <a:ext cx="7863840" cy="457200"/>
          </a:xfrm>
          <a:prstGeom prst="rect">
            <a:avLst/>
          </a:prstGeom>
          <a:solidFill>
            <a:srgbClr val="F0ECE3"/>
          </a:solidFill>
          <a:ln w="9525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3968496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E3A34"/>
                </a:solidFill>
                <a:latin typeface="Noto Serif TC"/>
                <a:ea typeface="Noto Serif TC"/>
              </a:rPr>
              <a:t>RDMA link down / 擁塞升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3968496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B746E"/>
                </a:solidFill>
                <a:latin typeface="Noto Sans TC"/>
                <a:ea typeface="Noto Sans TC"/>
              </a:rPr>
              <a:t>fabric 出問題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4023360"/>
            <a:ext cx="1371600" cy="310896"/>
          </a:xfrm>
          <a:prstGeom prst="roundRect">
            <a:avLst/>
          </a:prstGeom>
          <a:solidFill>
            <a:srgbClr val="F26E4A"/>
          </a:solidFill>
          <a:ln w="12700">
            <a:solidFill>
              <a:srgbClr val="C05F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TC"/>
                <a:ea typeface="Noto Sans TC"/>
              </a:rPr>
              <a:t>CRIT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4480560"/>
            <a:ext cx="7863840" cy="457200"/>
          </a:xfrm>
          <a:prstGeom prst="rect">
            <a:avLst/>
          </a:prstGeom>
          <a:solidFill>
            <a:srgbClr val="F0ECE3"/>
          </a:solidFill>
          <a:ln w="9525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4535424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E3A34"/>
                </a:solidFill>
                <a:latin typeface="Noto Serif TC"/>
                <a:ea typeface="Noto Serif TC"/>
              </a:rPr>
              <a:t>vLLM engine dead (health≠200)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4535424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B746E"/>
                </a:solidFill>
                <a:latin typeface="Noto Sans TC"/>
                <a:ea typeface="Noto Sans TC"/>
              </a:rPr>
              <a:t>推理死機，即刻喊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61120" y="4590288"/>
            <a:ext cx="1371600" cy="310896"/>
          </a:xfrm>
          <a:prstGeom prst="roundRect">
            <a:avLst/>
          </a:prstGeom>
          <a:solidFill>
            <a:srgbClr val="F26E4A"/>
          </a:solidFill>
          <a:ln w="12700">
            <a:solidFill>
              <a:srgbClr val="C05F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TC"/>
                <a:ea typeface="Noto Sans TC"/>
              </a:rPr>
              <a:t>CRIT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73952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46E"/>
                </a:solidFill>
                <a:latin typeface="Noto Sans TC"/>
                <a:ea typeface="Noto Sans TC"/>
              </a:rPr>
              <a:t>DGX GB10 Console  ·  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3E5C4B"/>
                </a:solidFill>
                <a:latin typeface="Noto Serif TC"/>
                <a:ea typeface="Noto Serif TC"/>
              </a:rPr>
              <a:t>架構 — 分層清晰，通訊安全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C05F3C"/>
                </a:solidFill>
                <a:latin typeface="Noto Sans TC"/>
                <a:ea typeface="Noto Sans TC"/>
              </a:rPr>
              <a:t>— </a:t>
            </a:r>
            <a:r>
              <a:rPr sz="1500" b="0">
                <a:solidFill>
                  <a:srgbClr val="2E3A34"/>
                </a:solidFill>
                <a:latin typeface="Noto Sans TC"/>
                <a:ea typeface="Noto Sans TC"/>
              </a:rPr>
              <a:t>L4 Consumer：你部機 / Prometheus / Grafana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C05F3C"/>
                </a:solidFill>
                <a:latin typeface="Noto Sans TC"/>
                <a:ea typeface="Noto Sans TC"/>
              </a:rPr>
              <a:t>— </a:t>
            </a:r>
            <a:r>
              <a:rPr sz="1500" b="0">
                <a:solidFill>
                  <a:srgbClr val="2E3A34"/>
                </a:solidFill>
                <a:latin typeface="Noto Sans TC"/>
                <a:ea typeface="Noto Sans TC"/>
              </a:rPr>
              <a:t>L3 API：aggregator（/health · /cluster.json · /metrics · /logs · /control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C05F3C"/>
                </a:solidFill>
                <a:latin typeface="Noto Sans TC"/>
                <a:ea typeface="Noto Sans TC"/>
              </a:rPr>
              <a:t>— </a:t>
            </a:r>
            <a:r>
              <a:rPr sz="1500" b="0">
                <a:solidFill>
                  <a:srgbClr val="2E3A34"/>
                </a:solidFill>
                <a:latin typeface="Noto Sans TC"/>
                <a:ea typeface="Noto Sans TC"/>
              </a:rPr>
              <a:t>L2 Exporter：每部 DGX 一個 :9101（一等公民）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C05F3C"/>
                </a:solidFill>
                <a:latin typeface="Noto Sans TC"/>
                <a:ea typeface="Noto Sans TC"/>
              </a:rPr>
              <a:t>— </a:t>
            </a:r>
            <a:r>
              <a:rPr sz="1500" b="0">
                <a:solidFill>
                  <a:srgbClr val="2E3A34"/>
                </a:solidFill>
                <a:latin typeface="Noto Sans TC"/>
                <a:ea typeface="Noto Sans TC"/>
              </a:rPr>
              <a:t>L1 Collectors：hardware · system · network · services · vllm（並行）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C05F3C"/>
                </a:solidFill>
                <a:latin typeface="Noto Sans TC"/>
                <a:ea typeface="Noto Sans TC"/>
              </a:rPr>
              <a:t>— </a:t>
            </a:r>
            <a:r>
              <a:rPr sz="1500" b="0">
                <a:solidFill>
                  <a:srgbClr val="2E3A34"/>
                </a:solidFill>
                <a:latin typeface="Noto Sans TC"/>
                <a:ea typeface="Noto Sans TC"/>
              </a:rPr>
              <a:t>L0 數據源：nvidia-smi / proc / sys / docker / vLLM / RDMA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1554480"/>
            <a:ext cx="45720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</p:txBody>
      </p:sp>
      <p:sp>
        <p:nvSpPr>
          <p:cNvPr id="6" name="Rectangle 5"/>
          <p:cNvSpPr/>
          <p:nvPr/>
        </p:nvSpPr>
        <p:spPr>
          <a:xfrm>
            <a:off x="6766560" y="1600200"/>
            <a:ext cx="4572000" cy="2926080"/>
          </a:xfrm>
          <a:prstGeom prst="rect">
            <a:avLst/>
          </a:prstGeom>
          <a:solidFill>
            <a:srgbClr val="F0ECE3"/>
          </a:solidFill>
          <a:ln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920240"/>
            <a:ext cx="38404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3E5C4B"/>
                </a:solidFill>
                <a:latin typeface="Noto Serif TC"/>
                <a:ea typeface="Noto Serif TC"/>
              </a:rPr>
              <a:t>通訊安全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C05F3C"/>
                </a:solidFill>
                <a:latin typeface="Noto Sans TC"/>
                <a:ea typeface="Noto Sans TC"/>
              </a:rPr>
              <a:t>— </a:t>
            </a:r>
            <a:r>
              <a:rPr sz="1400" b="0">
                <a:solidFill>
                  <a:srgbClr val="2E3A34"/>
                </a:solidFill>
                <a:latin typeface="Noto Sans TC"/>
                <a:ea typeface="Noto Sans TC"/>
              </a:rPr>
              <a:t>出外：token + read-only + TLS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C05F3C"/>
                </a:solidFill>
                <a:latin typeface="Noto Sans TC"/>
                <a:ea typeface="Noto Sans TC"/>
              </a:rPr>
              <a:t>— </a:t>
            </a:r>
            <a:r>
              <a:rPr sz="1400" b="0">
                <a:solidFill>
                  <a:srgbClr val="2E3A34"/>
                </a:solidFill>
                <a:latin typeface="Noto Sans TC"/>
                <a:ea typeface="Noto Sans TC"/>
              </a:rPr>
              <a:t>站與站：mTLS / WireGuard 加密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C05F3C"/>
                </a:solidFill>
                <a:latin typeface="Noto Sans TC"/>
                <a:ea typeface="Noto Sans TC"/>
              </a:rPr>
              <a:t>— </a:t>
            </a:r>
            <a:r>
              <a:rPr sz="1400" b="0">
                <a:solidFill>
                  <a:srgbClr val="2E3A34"/>
                </a:solidFill>
                <a:latin typeface="Noto Sans TC"/>
                <a:ea typeface="Noto Sans TC"/>
              </a:rPr>
              <a:t>/logs 敏感 → auth；/control 受控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46E"/>
                </a:solidFill>
                <a:latin typeface="Noto Sans TC"/>
                <a:ea typeface="Noto Sans TC"/>
              </a:rPr>
              <a:t>DGX GB10 Console  ·  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3E5C4B"/>
                </a:solidFill>
                <a:latin typeface="Noto Serif TC"/>
                <a:ea typeface="Noto Serif TC"/>
              </a:rPr>
              <a:t>部署 — 幾分鐘上線、遷移就把炮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60350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C05F3C"/>
                </a:solidFill>
                <a:latin typeface="Noto Sans TC"/>
                <a:ea typeface="Noto Sans TC"/>
              </a:rPr>
              <a:t>— </a:t>
            </a:r>
            <a:r>
              <a:rPr sz="1500" b="0">
                <a:solidFill>
                  <a:srgbClr val="2E3A34"/>
                </a:solidFill>
                <a:latin typeface="Noto Sans TC"/>
                <a:ea typeface="Noto Sans TC"/>
              </a:rPr>
              <a:t>每節點 venv + systemd（原裝 DGX OS，ARM64 wheels 齊）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C05F3C"/>
                </a:solidFill>
                <a:latin typeface="Noto Sans TC"/>
                <a:ea typeface="Noto Sans TC"/>
              </a:rPr>
              <a:t>— </a:t>
            </a:r>
            <a:r>
              <a:rPr sz="1500" b="0">
                <a:solidFill>
                  <a:srgbClr val="2E3A34"/>
                </a:solidFill>
                <a:latin typeface="Noto Sans TC"/>
                <a:ea typeface="Noto Sans TC"/>
              </a:rPr>
              <a:t>冪等 install.sh：`--role --node-id --mgmt-ip`，加機 3 步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C05F3C"/>
                </a:solidFill>
                <a:latin typeface="Noto Sans TC"/>
                <a:ea typeface="Noto Sans TC"/>
              </a:rPr>
              <a:t>— </a:t>
            </a:r>
            <a:r>
              <a:rPr sz="1500" b="0">
                <a:solidFill>
                  <a:srgbClr val="2E3A34"/>
                </a:solidFill>
                <a:latin typeface="Noto Sans TC"/>
                <a:ea typeface="Noto Sans TC"/>
              </a:rPr>
              <a:t>hardened systemd unit（NoNewPrivileges / ProtectSystem …）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C05F3C"/>
                </a:solidFill>
                <a:latin typeface="Noto Sans TC"/>
                <a:ea typeface="Noto Sans TC"/>
              </a:rPr>
              <a:t>— </a:t>
            </a:r>
            <a:r>
              <a:rPr sz="1500" b="0">
                <a:solidFill>
                  <a:srgbClr val="2E3A34"/>
                </a:solidFill>
                <a:latin typeface="Noto Sans TC"/>
                <a:ea typeface="Noto Sans TC"/>
              </a:rPr>
              <a:t>可選 Docker 路徑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C05F3C"/>
                </a:solidFill>
                <a:latin typeface="Noto Sans TC"/>
                <a:ea typeface="Noto Sans TC"/>
              </a:rPr>
              <a:t>— </a:t>
            </a:r>
            <a:r>
              <a:rPr sz="1500" b="0">
                <a:solidFill>
                  <a:srgbClr val="2E3A34"/>
                </a:solidFill>
                <a:latin typeface="Noto Sans TC"/>
                <a:ea typeface="Noto Sans TC"/>
              </a:rPr>
              <a:t>換機／升級：`install.sh --update`／`--uninstall` 回滾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645920"/>
            <a:ext cx="39319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</p:txBody>
      </p:sp>
      <p:sp>
        <p:nvSpPr>
          <p:cNvPr id="6" name="Rectangle 5"/>
          <p:cNvSpPr/>
          <p:nvPr/>
        </p:nvSpPr>
        <p:spPr>
          <a:xfrm>
            <a:off x="7315200" y="1691640"/>
            <a:ext cx="3931920" cy="2377440"/>
          </a:xfrm>
          <a:prstGeom prst="rect">
            <a:avLst/>
          </a:prstGeom>
          <a:solidFill>
            <a:srgbClr val="F0ECE3"/>
          </a:solidFill>
          <a:ln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2011680"/>
            <a:ext cx="3200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3E5C4B"/>
                </a:solidFill>
                <a:latin typeface="Noto Serif TC"/>
                <a:ea typeface="Noto Serif TC"/>
              </a:rPr>
              <a:t>部署三句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E3A34"/>
                </a:solidFill>
                <a:latin typeface="Noto Sans TC"/>
                <a:ea typeface="Noto Sans TC"/>
              </a:rPr>
              <a:t>① clone + install.sh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E3A34"/>
                </a:solidFill>
                <a:latin typeface="Noto Sans TC"/>
                <a:ea typeface="Noto Sans TC"/>
              </a:rPr>
              <a:t>② 定 token / 角色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E3A34"/>
                </a:solidFill>
                <a:latin typeface="Noto Sans TC"/>
                <a:ea typeface="Noto Sans TC"/>
              </a:rPr>
              <a:t>③ 起 service — 完成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46E"/>
                </a:solidFill>
                <a:latin typeface="Noto Sans TC"/>
                <a:ea typeface="Noto Sans TC"/>
              </a:rPr>
              <a:t>DGX GB10 Console  ·  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3E5C4B"/>
                </a:solidFill>
                <a:latin typeface="Noto Serif TC"/>
                <a:ea typeface="Noto Serif TC"/>
              </a:rPr>
              <a:t>整合 — 唔係孤島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60350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C05F3C"/>
                </a:solidFill>
                <a:latin typeface="Noto Sans TC"/>
                <a:ea typeface="Noto Sans TC"/>
              </a:rPr>
              <a:t>— </a:t>
            </a:r>
            <a:r>
              <a:rPr sz="1500" b="0">
                <a:solidFill>
                  <a:srgbClr val="2E3A34"/>
                </a:solidFill>
                <a:latin typeface="Noto Sans TC"/>
                <a:ea typeface="Noto Sans TC"/>
              </a:rPr>
              <a:t>Prometheus / Grafana：內建 /metrics 直接被撈 → dashboard + alert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C05F3C"/>
                </a:solidFill>
                <a:latin typeface="Noto Sans TC"/>
                <a:ea typeface="Noto Sans TC"/>
              </a:rPr>
              <a:t>— </a:t>
            </a:r>
            <a:r>
              <a:rPr sz="1500" b="0">
                <a:solidFill>
                  <a:srgbClr val="2E3A34"/>
                </a:solidFill>
                <a:latin typeface="Noto Sans TC"/>
                <a:ea typeface="Noto Sans TC"/>
              </a:rPr>
              <a:t>Webhook / Telegram（可選）：出事即 push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C05F3C"/>
                </a:solidFill>
                <a:latin typeface="Noto Sans TC"/>
                <a:ea typeface="Noto Sans TC"/>
              </a:rPr>
              <a:t>— </a:t>
            </a:r>
            <a:r>
              <a:rPr sz="1500" b="0">
                <a:solidFill>
                  <a:srgbClr val="2E3A34"/>
                </a:solidFill>
                <a:latin typeface="Noto Sans TC"/>
                <a:ea typeface="Noto Sans TC"/>
              </a:rPr>
              <a:t>SQLite 歷史 / ring buffer：即時 + 回溯（可配 Prometheus TSDB 長史）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C05F3C"/>
                </a:solidFill>
                <a:latin typeface="Noto Sans TC"/>
                <a:ea typeface="Noto Sans TC"/>
              </a:rPr>
              <a:t>— </a:t>
            </a:r>
            <a:r>
              <a:rPr sz="1500" b="0">
                <a:solidFill>
                  <a:srgbClr val="2E3A34"/>
                </a:solidFill>
                <a:latin typeface="Noto Sans TC"/>
                <a:ea typeface="Noto Sans TC"/>
              </a:rPr>
              <a:t>vLLM 控制（可選）：abort-by-id、pause/resume — 受控 + 唔干預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645920"/>
            <a:ext cx="39319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</p:txBody>
      </p:sp>
      <p:sp>
        <p:nvSpPr>
          <p:cNvPr id="6" name="Rectangle 5"/>
          <p:cNvSpPr/>
          <p:nvPr/>
        </p:nvSpPr>
        <p:spPr>
          <a:xfrm>
            <a:off x="7315200" y="1691640"/>
            <a:ext cx="3931920" cy="2011680"/>
          </a:xfrm>
          <a:prstGeom prst="rect">
            <a:avLst/>
          </a:prstGeom>
          <a:solidFill>
            <a:srgbClr val="F0ECE3"/>
          </a:solidFill>
          <a:ln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2011680"/>
            <a:ext cx="3200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E5C4B"/>
                </a:solidFill>
                <a:latin typeface="Noto Serif TC"/>
                <a:ea typeface="Noto Serif TC"/>
              </a:rPr>
              <a:t>想擴到大型集群？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E3A34"/>
                </a:solidFill>
                <a:latin typeface="Noto Sans TC"/>
                <a:ea typeface="Noto Sans TC"/>
              </a:rPr>
              <a:t>N 前預設單 aggregator；N 大到可 federation / 多級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46E"/>
                </a:solidFill>
                <a:latin typeface="Noto Sans TC"/>
                <a:ea typeface="Noto Sans TC"/>
              </a:rPr>
              <a:t>DGX GB10 Console  ·  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5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Noto Serif TC"/>
                <a:ea typeface="Noto Serif TC"/>
              </a:rPr>
              <a:t>客戶價值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C05F3C"/>
                </a:solidFill>
                <a:latin typeface="Noto Sans TC"/>
                <a:ea typeface="Noto Sans TC"/>
              </a:rPr>
              <a:t>✓  </a:t>
            </a:r>
            <a:r>
              <a:rPr sz="2000" b="0">
                <a:solidFill>
                  <a:srgbClr val="FFFFFF"/>
                </a:solidFill>
                <a:latin typeface="Noto Sans TC"/>
                <a:ea typeface="Noto Sans TC"/>
              </a:rPr>
              <a:t>唔使估 — 成個集群即時狀態、效能、成本一目了然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C05F3C"/>
                </a:solidFill>
                <a:latin typeface="Noto Sans TC"/>
                <a:ea typeface="Noto Sans TC"/>
              </a:rPr>
              <a:t>✓  </a:t>
            </a:r>
            <a:r>
              <a:rPr sz="2000" b="0">
                <a:solidFill>
                  <a:srgbClr val="FFFFFF"/>
                </a:solidFill>
                <a:latin typeface="Noto Sans TC"/>
                <a:ea typeface="Noto Sans TC"/>
              </a:rPr>
              <a:t>過熱降頻 / OOM / 排隊 / 磁碟滿 / 將壞碟 — 未出事已經話你知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C05F3C"/>
                </a:solidFill>
                <a:latin typeface="Noto Sans TC"/>
                <a:ea typeface="Noto Sans TC"/>
              </a:rPr>
              <a:t>✓  </a:t>
            </a:r>
            <a:r>
              <a:rPr sz="2000" b="0">
                <a:solidFill>
                  <a:srgbClr val="FFFFFF"/>
                </a:solidFill>
                <a:latin typeface="Noto Sans TC"/>
                <a:ea typeface="Noto Sans TC"/>
              </a:rPr>
              <a:t>效能 SLA 有得查：TTFT / P95 / per-model — 唔使靠估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C05F3C"/>
                </a:solidFill>
                <a:latin typeface="Noto Sans TC"/>
                <a:ea typeface="Noto Sans TC"/>
              </a:rPr>
              <a:t>✓  </a:t>
            </a:r>
            <a:r>
              <a:rPr sz="2000" b="0">
                <a:solidFill>
                  <a:srgbClr val="FFFFFF"/>
                </a:solidFill>
                <a:latin typeface="Noto Sans TC"/>
                <a:ea typeface="Noto Sans TC"/>
              </a:rPr>
              <a:t>成本透明：電費、Token、容量預測 — 慳錢決定有數據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C05F3C"/>
                </a:solidFill>
                <a:latin typeface="Noto Sans TC"/>
                <a:ea typeface="Noto Sans TC"/>
              </a:rPr>
              <a:t>✓  </a:t>
            </a:r>
            <a:r>
              <a:rPr sz="2000" b="0">
                <a:solidFill>
                  <a:srgbClr val="FFFFFF"/>
                </a:solidFill>
                <a:latin typeface="Noto Sans TC"/>
                <a:ea typeface="Noto Sans TC"/>
              </a:rPr>
              <a:t>安全守門：read-only + mTLS + 受控操作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52160"/>
            <a:ext cx="103628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7D4CC"/>
                </a:solidFill>
                <a:latin typeface="Noto Sans TC"/>
                <a:ea typeface="Noto Sans TC"/>
              </a:rPr>
              <a:t>由「唔知」到「一個 API 就知」— DGX GB10 Console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46E"/>
                </a:solidFill>
                <a:latin typeface="Noto Sans TC"/>
                <a:ea typeface="Noto Sans TC"/>
              </a:rPr>
              <a:t>DGX GB10 Console  ·  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4000" b="1">
                <a:solidFill>
                  <a:srgbClr val="3E5C4B"/>
                </a:solidFill>
                <a:latin typeface="Noto Serif TC"/>
                <a:ea typeface="Noto Serif TC"/>
              </a:rPr>
              <a:t>下一 步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>
                <a:solidFill>
                  <a:srgbClr val="2E3A34"/>
                </a:solidFill>
                <a:latin typeface="Noto Sans TC"/>
                <a:ea typeface="Noto Sans TC"/>
              </a:rPr>
              <a:t>落地試行：喺你嘅 DGX Spark 上部署概念驗證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>
                <a:solidFill>
                  <a:srgbClr val="2E3A34"/>
                </a:solidFill>
                <a:latin typeface="Noto Sans TC"/>
                <a:ea typeface="Noto Sans TC"/>
              </a:rPr>
              <a:t>接入你嘅 vLLM / 監控棧，睇住真實數據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>
                <a:solidFill>
                  <a:srgbClr val="2E3A34"/>
                </a:solidFill>
                <a:latin typeface="Noto Sans TC"/>
                <a:ea typeface="Noto Sans TC"/>
              </a:rPr>
              <a:t>按你需要收窄或擴展收嘅指標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C05F3C"/>
                </a:solidFill>
                <a:latin typeface="Noto Serif TC"/>
                <a:ea typeface="Noto Serif TC"/>
              </a:rPr>
              <a:t>DGX GB10 Console — 謝謝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46E"/>
                </a:solidFill>
                <a:latin typeface="Noto Sans TC"/>
                <a:ea typeface="Noto Sans TC"/>
              </a:rPr>
              <a:t>DGX GB10 Console  ·  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